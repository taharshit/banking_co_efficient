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345D"/>
                </a:solidFill>
                <a:latin typeface="Aptos"/>
              </a:defRPr>
            </a:pPr>
            <a:r>
              <a:t>One platform. Distinct banking environments.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Proposed target architecture for NegoMaster’s bank-specific administration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212848"/>
            <a:ext cx="10908792" cy="1051560"/>
          </a:xfrm>
          <a:prstGeom prst="roundRect">
            <a:avLst>
              <a:gd name="adj" fmla="val 12000"/>
            </a:avLst>
          </a:prstGeom>
          <a:solidFill>
            <a:srgbClr val="10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414016"/>
            <a:ext cx="7315200" cy="3931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NegoMaster Core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834640"/>
            <a:ext cx="9144000" cy="25603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Shared product, content library, identity, governance and licensing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22191"/>
            <a:ext cx="3502152" cy="148132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BANK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99432"/>
            <a:ext cx="2834640" cy="30175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Dedicated tenant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22191"/>
            <a:ext cx="3502152" cy="148132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4105656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BANK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99432"/>
            <a:ext cx="2834640" cy="30175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Dedicated tenant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822191"/>
            <a:ext cx="3502152" cy="148132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19" y="4105656"/>
            <a:ext cx="2926080" cy="34747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BANK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4599432"/>
            <a:ext cx="2834640" cy="30175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Dedicated tenant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51576"/>
            <a:ext cx="10698480" cy="36576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Shared capabilities  •  Isolated business data  •  Delegated bank administration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345D"/>
                </a:solidFill>
                <a:latin typeface="Aptos"/>
              </a:defRPr>
            </a:pPr>
            <a:r>
              <a:t>Architecture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Logical tenant separation is not the same as a dedicated infrastructure cluster.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965960"/>
            <a:ext cx="5486400" cy="822960"/>
          </a:xfrm>
          <a:prstGeom prst="roundRect">
            <a:avLst>
              <a:gd name="adj" fmla="val 12000"/>
            </a:avLst>
          </a:prstGeom>
          <a:solidFill>
            <a:srgbClr val="10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02736" y="2212848"/>
            <a:ext cx="4937760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NegoMaster Global Administration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3355848"/>
            <a:ext cx="3538728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2648" y="3355848"/>
            <a:ext cx="3538728" cy="530352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3483864"/>
            <a:ext cx="3108960" cy="25603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Bank A tenant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78224"/>
            <a:ext cx="3063240" cy="10789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Bank admins</a:t>
            </a:r>
          </a:p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Bank policies and quizzes</a:t>
            </a:r>
          </a:p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Users and private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355848"/>
            <a:ext cx="3538728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25696" y="3355848"/>
            <a:ext cx="3538728" cy="530352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2" y="3483864"/>
            <a:ext cx="3108960" cy="25603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Bank B tenant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078224"/>
            <a:ext cx="3063240" cy="10789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Bank admins</a:t>
            </a:r>
          </a:p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Bank policies and quizzes</a:t>
            </a:r>
          </a:p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Users and private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3355848"/>
            <a:ext cx="3538728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38744" y="3355848"/>
            <a:ext cx="3538728" cy="530352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3483864"/>
            <a:ext cx="3108960" cy="25603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Bank C tenant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4078224"/>
            <a:ext cx="3063240" cy="10789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Bank admins</a:t>
            </a:r>
          </a:p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Bank policies and quizzes</a:t>
            </a:r>
          </a:p>
          <a:p>
            <a:pPr>
              <a:spcAft>
                <a:spcPts val="400"/>
              </a:spcAft>
              <a:defRPr sz="1400" b="0">
                <a:solidFill>
                  <a:srgbClr val="253242"/>
                </a:solidFill>
                <a:latin typeface="Aptos"/>
              </a:defRPr>
            </a:pPr>
            <a:r>
              <a:t>Users and private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44184" y="2807208"/>
            <a:ext cx="27432" cy="548640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386584" y="3127248"/>
            <a:ext cx="7333488" cy="22860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931920" y="5669280"/>
            <a:ext cx="4343400" cy="38404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95928" y="5737860"/>
            <a:ext cx="4215384" cy="22860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21539C"/>
                </a:solidFill>
                <a:latin typeface="Aptos"/>
              </a:defRPr>
            </a:pPr>
            <a:r>
              <a:t>Server-enforced access boundaries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345D"/>
                </a:solidFill>
                <a:latin typeface="Aptos"/>
              </a:defRPr>
            </a:pPr>
            <a:r>
              <a:t>What is shared vs. bank-specific?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Keep a single product baseline; allow controlled local configuration.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075688"/>
            <a:ext cx="5285232" cy="3346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075688"/>
            <a:ext cx="68580" cy="3346704"/>
          </a:xfrm>
          <a:prstGeom prst="rect">
            <a:avLst/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2258568"/>
            <a:ext cx="4873752" cy="3931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0345D"/>
                </a:solidFill>
                <a:latin typeface="Aptos"/>
              </a:defRPr>
            </a:pPr>
            <a:r>
              <a:t>GLOBAL NEGOMASTER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2779776"/>
            <a:ext cx="4846320" cy="254203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• Core application and UX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• Standard profiling framework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• Standard skill assessments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• Content templates and versions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• Global security and audit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2075688"/>
            <a:ext cx="5285232" cy="33467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27064" y="2075688"/>
            <a:ext cx="68580" cy="334670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2258568"/>
            <a:ext cx="4873752" cy="3931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0345D"/>
                </a:solidFill>
                <a:latin typeface="Aptos"/>
              </a:defRPr>
            </a:pPr>
            <a:r>
              <a:t>EACH BANK / 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779776"/>
            <a:ext cx="4846320" cy="254203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• Business policies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• Bank-specific quizzes and questions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• Approved scoring adjustments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• Users, teams and assignments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• Private results and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742432"/>
            <a:ext cx="10789920" cy="36576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Local customization must never modify the global source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345D"/>
                </a:solidFill>
                <a:latin typeface="Aptos"/>
              </a:defRPr>
            </a:pPr>
            <a:r>
              <a:t>Admin modules and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A proposed responsibility model based on the current NegoMaster menu.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1901952"/>
            <a:ext cx="3685032" cy="448056"/>
          </a:xfrm>
          <a:prstGeom prst="roundRect">
            <a:avLst>
              <a:gd name="adj" fmla="val 12000"/>
            </a:avLst>
          </a:prstGeom>
          <a:solidFill>
            <a:srgbClr val="10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2029968"/>
            <a:ext cx="3465576" cy="20116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ADMIN 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901952"/>
            <a:ext cx="3502152" cy="448056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848" y="2029968"/>
            <a:ext cx="3282696" cy="20116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NEGOMASTER CENTRAL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901952"/>
            <a:ext cx="3502152" cy="448056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5007" y="2029968"/>
            <a:ext cx="3282696" cy="20116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BANK 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377440"/>
            <a:ext cx="368503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2455164"/>
            <a:ext cx="350215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1">
                <a:solidFill>
                  <a:srgbClr val="10345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377440"/>
            <a:ext cx="350215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9704" y="2455164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Platform KPIs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377440"/>
            <a:ext cx="350215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55863" y="2455164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Bank KPIs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784348"/>
            <a:ext cx="368503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2862072"/>
            <a:ext cx="350215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1">
                <a:solidFill>
                  <a:srgbClr val="10345D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2784348"/>
            <a:ext cx="350215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9704" y="2862072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Cross-tenant governance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2784348"/>
            <a:ext cx="350215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55863" y="2862072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Bank users / teams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191256"/>
            <a:ext cx="368503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" y="3268980"/>
            <a:ext cx="350215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1">
                <a:solidFill>
                  <a:srgbClr val="10345D"/>
                </a:solidFill>
                <a:latin typeface="Aptos"/>
              </a:defRPr>
            </a:pPr>
            <a:r>
              <a:t>Businesses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3191256"/>
            <a:ext cx="350215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89704" y="3268980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Provision / suspend tenants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3191256"/>
            <a:ext cx="350215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55863" y="3268980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Own business profile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598164"/>
            <a:ext cx="368503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3675888"/>
            <a:ext cx="350215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1">
                <a:solidFill>
                  <a:srgbClr val="10345D"/>
                </a:solidFill>
                <a:latin typeface="Aptos"/>
              </a:defRPr>
            </a:pPr>
            <a:r>
              <a:t>Profiling Environment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3598164"/>
            <a:ext cx="350215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89704" y="3675888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Standard framework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3598164"/>
            <a:ext cx="350215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55863" y="3675888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Allowed local settings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005072"/>
            <a:ext cx="368503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" y="4082796"/>
            <a:ext cx="350215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1">
                <a:solidFill>
                  <a:srgbClr val="10345D"/>
                </a:solidFill>
                <a:latin typeface="Aptos"/>
              </a:defRPr>
            </a:pPr>
            <a:r>
              <a:t>Business Policies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4005072"/>
            <a:ext cx="350215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89704" y="4082796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Templates / guardrails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4005072"/>
            <a:ext cx="350215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55863" y="4082796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Own policies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411980"/>
            <a:ext cx="368503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8952" y="4489704"/>
            <a:ext cx="350215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1">
                <a:solidFill>
                  <a:srgbClr val="10345D"/>
                </a:solidFill>
                <a:latin typeface="Aptos"/>
              </a:defRPr>
            </a:pPr>
            <a:r>
              <a:t>Skill Assessment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4411980"/>
            <a:ext cx="350215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489704" y="4489704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Standard engine / quizzes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4411980"/>
            <a:ext cx="350215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55863" y="4489704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Local quizzes / scoring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818888"/>
            <a:ext cx="368503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8952" y="4896612"/>
            <a:ext cx="350215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1">
                <a:solidFill>
                  <a:srgbClr val="10345D"/>
                </a:solidFill>
                <a:latin typeface="Aptos"/>
              </a:defRPr>
            </a:pPr>
            <a:r>
              <a:t>Contact 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0" y="4818888"/>
            <a:ext cx="350215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489704" y="4896612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Central support routing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4818888"/>
            <a:ext cx="350215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55863" y="4896612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Bank-specific contact, optional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5225796"/>
            <a:ext cx="368503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58952" y="5303520"/>
            <a:ext cx="350215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1">
                <a:solidFill>
                  <a:srgbClr val="10345D"/>
                </a:solidFill>
                <a:latin typeface="Aptos"/>
              </a:defRPr>
            </a:pPr>
            <a:r>
              <a:t>Activity Logs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89120" y="5225796"/>
            <a:ext cx="350215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489704" y="5303520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Platform audit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55279" y="5225796"/>
            <a:ext cx="3502152" cy="38862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55863" y="5303520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Bank-scoped audit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632704"/>
            <a:ext cx="368503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58952" y="5710428"/>
            <a:ext cx="350215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1">
                <a:solidFill>
                  <a:srgbClr val="10345D"/>
                </a:solidFill>
                <a:latin typeface="Aptos"/>
              </a:defRPr>
            </a:pPr>
            <a:r>
              <a:t>Settings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0" y="5632704"/>
            <a:ext cx="350215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489704" y="5710428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System / subscriptions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79" y="5632704"/>
            <a:ext cx="3502152" cy="388620"/>
          </a:xfrm>
          <a:prstGeom prst="rect">
            <a:avLst/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055863" y="5710428"/>
            <a:ext cx="3319272" cy="2651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080" b="0">
                <a:solidFill>
                  <a:srgbClr val="253242"/>
                </a:solidFill>
                <a:latin typeface="Aptos"/>
              </a:defRPr>
            </a:pPr>
            <a:r>
              <a:t>Permitted tenant settings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345D"/>
                </a:solidFill>
                <a:latin typeface="Aptos"/>
              </a:defRPr>
            </a:pPr>
            <a:r>
              <a:t>Content inheritance and customization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Three controlled ways to serve bank-specific learning experiences.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148840"/>
            <a:ext cx="3547872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6968" y="2423160"/>
            <a:ext cx="1993392" cy="38404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2491740"/>
            <a:ext cx="1865376" cy="22860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21539C"/>
                </a:solidFill>
                <a:latin typeface="Aptos"/>
              </a:defRPr>
            </a:pPr>
            <a:r>
              <a:t>01  INHERIT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127248"/>
            <a:ext cx="3063240" cy="65836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0345D"/>
                </a:solidFill>
                <a:latin typeface="Aptos"/>
              </a:defRPr>
            </a:pPr>
            <a:r>
              <a:t>Use NegoMaster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931920"/>
            <a:ext cx="3054096" cy="3840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No local modification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3128" y="2148840"/>
            <a:ext cx="3547872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681728" y="2423160"/>
            <a:ext cx="1993392" cy="38404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45736" y="2491740"/>
            <a:ext cx="1865376" cy="22860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21539C"/>
                </a:solidFill>
                <a:latin typeface="Aptos"/>
              </a:defRPr>
            </a:pPr>
            <a:r>
              <a:t>02  EXTEND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127248"/>
            <a:ext cx="3063240" cy="65836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0345D"/>
                </a:solidFill>
                <a:latin typeface="Aptos"/>
              </a:defRPr>
            </a:pPr>
            <a:r>
              <a:t>Add bank-specific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3931920"/>
            <a:ext cx="3054096" cy="3840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Additional policies or questions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2148840"/>
            <a:ext cx="3547872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76488" y="2423160"/>
            <a:ext cx="1993392" cy="38404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0496" y="2491740"/>
            <a:ext cx="1865376" cy="22860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21539C"/>
                </a:solidFill>
                <a:latin typeface="Aptos"/>
              </a:defRPr>
            </a:pPr>
            <a:r>
              <a:t>03  OVERRIDE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3127248"/>
            <a:ext cx="3063240" cy="65836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10345D"/>
                </a:solidFill>
                <a:latin typeface="Aptos"/>
              </a:defRPr>
            </a:pPr>
            <a:r>
              <a:t>Create an approved local variant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931920"/>
            <a:ext cx="3054096" cy="3840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Original standard remains intact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5065776"/>
            <a:ext cx="8321040" cy="685800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48840" y="5257800"/>
            <a:ext cx="7909560" cy="329184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21539C"/>
                </a:solidFill>
                <a:latin typeface="Aptos"/>
              </a:defRPr>
            </a:pPr>
            <a:r>
              <a:t>User experience = standard NegoMaster content + bank-specific additions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345D"/>
                </a:solidFill>
                <a:latin typeface="Aptos"/>
              </a:defRPr>
            </a:pPr>
            <a:r>
              <a:t>Assessment and results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Preserve comparability without limiting bank-specific evaluation.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039112"/>
            <a:ext cx="5257800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2039112"/>
            <a:ext cx="68580" cy="3182112"/>
          </a:xfrm>
          <a:prstGeom prst="rect">
            <a:avLst/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221992"/>
            <a:ext cx="4846320" cy="3931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0345D"/>
                </a:solidFill>
                <a:latin typeface="Aptos"/>
              </a:defRPr>
            </a:pPr>
            <a:r>
              <a:t>STANDARD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743200"/>
            <a:ext cx="4818888" cy="23774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Shared question bank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Standard competency framework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Standard scoring and benchmarks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Comparable NegoMaster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039112"/>
            <a:ext cx="5257800" cy="3182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039112"/>
            <a:ext cx="68580" cy="3182112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221992"/>
            <a:ext cx="4846320" cy="3931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0345D"/>
                </a:solidFill>
                <a:latin typeface="Aptos"/>
              </a:defRPr>
            </a:pPr>
            <a:r>
              <a:t>BANK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743200"/>
            <a:ext cx="4818888" cy="23774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Bank-specific questions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Bank policies and compliance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Approved local weighting</a:t>
            </a:r>
          </a:p>
          <a:p>
            <a:pPr>
              <a:spcAft>
                <a:spcPts val="400"/>
              </a:spcAft>
              <a:defRPr sz="1300" b="0">
                <a:solidFill>
                  <a:srgbClr val="253242"/>
                </a:solidFill>
                <a:latin typeface="Aptos"/>
              </a:defRPr>
            </a:pPr>
            <a:r>
              <a:t>Separate bank-specific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5605272"/>
            <a:ext cx="8046720" cy="38404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21408" y="5673852"/>
            <a:ext cx="7918704" cy="22860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21539C"/>
                </a:solidFill>
                <a:latin typeface="Aptos"/>
              </a:defRPr>
            </a:pPr>
            <a:r>
              <a:t>Every result references the exact quiz and scoring 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345D"/>
                </a:solidFill>
                <a:latin typeface="Aptos"/>
              </a:defRPr>
            </a:pPr>
            <a:r>
              <a:t>Role-based access and data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RBAC + tenant scope + team scope, checked on every API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1956816"/>
            <a:ext cx="3108960" cy="749808"/>
          </a:xfrm>
          <a:prstGeom prst="roundRect">
            <a:avLst>
              <a:gd name="adj" fmla="val 12000"/>
            </a:avLst>
          </a:prstGeom>
          <a:solidFill>
            <a:srgbClr val="10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76272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NegoMaster Super Admin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41648" y="1956816"/>
            <a:ext cx="7269480" cy="749808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2176272"/>
            <a:ext cx="6675120" cy="329184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53242"/>
                </a:solidFill>
                <a:latin typeface="Aptos"/>
              </a:defRPr>
            </a:pPr>
            <a:r>
              <a:t>Platform configuration and tenant lifecycle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2926080"/>
            <a:ext cx="3108960" cy="749808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145536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Bank Admin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41648" y="2926080"/>
            <a:ext cx="7269480" cy="749808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3145536"/>
            <a:ext cx="6675120" cy="329184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53242"/>
                </a:solidFill>
                <a:latin typeface="Aptos"/>
              </a:defRPr>
            </a:pPr>
            <a:r>
              <a:t>Own bank users, policies, quizzes and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3895344"/>
            <a:ext cx="3108960" cy="749808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114800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Bank Manager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41648" y="3895344"/>
            <a:ext cx="7269480" cy="749808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0" y="4114800"/>
            <a:ext cx="6675120" cy="329184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53242"/>
                </a:solidFill>
                <a:latin typeface="Aptos"/>
              </a:defRPr>
            </a:pPr>
            <a:r>
              <a:t>Authorized team results and reporting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864608"/>
            <a:ext cx="3108960" cy="749808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084064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End User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41648" y="4864608"/>
            <a:ext cx="7269480" cy="749808"/>
          </a:xfrm>
          <a:prstGeom prst="roundRect">
            <a:avLst>
              <a:gd name="adj" fmla="val 12000"/>
            </a:avLst>
          </a:prstGeom>
          <a:solidFill>
            <a:srgbClr val="F5F9FC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80" y="5084064"/>
            <a:ext cx="6675120" cy="329184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53242"/>
                </a:solidFill>
                <a:latin typeface="Aptos"/>
              </a:defRPr>
            </a:pPr>
            <a:r>
              <a:t>Assigned activities and own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6044184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00A7AF"/>
                </a:solidFill>
                <a:latin typeface="Aptos"/>
              </a:defRPr>
            </a:pPr>
            <a:r>
              <a:t>Never rely on UI filtering for tenant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345D"/>
                </a:solidFill>
                <a:latin typeface="Aptos"/>
              </a:defRPr>
            </a:pPr>
            <a:r>
              <a:t>Tenant provisioning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A bank can administer its own environment after central onboarding.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057400"/>
            <a:ext cx="3602736" cy="1271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68096" y="235000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2487168"/>
            <a:ext cx="219456" cy="24688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459736"/>
            <a:ext cx="2468880" cy="5486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Create bank tenant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057400"/>
            <a:ext cx="3602736" cy="1271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08576" y="235000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91456" y="2487168"/>
            <a:ext cx="219456" cy="24688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2459736"/>
            <a:ext cx="2468880" cy="5486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Assign plan &amp; modules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2057400"/>
            <a:ext cx="3602736" cy="1271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49056" y="2350008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31936" y="2487168"/>
            <a:ext cx="219456" cy="24688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459736"/>
            <a:ext cx="2468880" cy="5486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Invite bank admins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675887"/>
            <a:ext cx="3602736" cy="1271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68096" y="3968496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4105655"/>
            <a:ext cx="219456" cy="24688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078224"/>
            <a:ext cx="2468880" cy="5486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Configure local content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675887"/>
            <a:ext cx="3602736" cy="1271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608576" y="3968496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91456" y="4105655"/>
            <a:ext cx="219456" cy="24688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8" y="4078224"/>
            <a:ext cx="2468880" cy="5486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Onboard bank users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3675887"/>
            <a:ext cx="3602736" cy="1271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449056" y="3968496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31936" y="4105655"/>
            <a:ext cx="219456" cy="24688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4078224"/>
            <a:ext cx="2468880" cy="5486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Assess &amp;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345D"/>
                </a:solidFill>
                <a:latin typeface="Aptos"/>
              </a:defRPr>
            </a:pPr>
            <a:r>
              <a:t>Infrastructure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Choose isolation tier by risk, contractual requirements and operating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2148840"/>
            <a:ext cx="3520440" cy="2770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6656" y="2148840"/>
            <a:ext cx="3520440" cy="621792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" y="2331720"/>
            <a:ext cx="2926080" cy="237744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TIER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127248"/>
            <a:ext cx="3108960" cy="4937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0345D"/>
                </a:solidFill>
                <a:latin typeface="Aptos"/>
              </a:defRPr>
            </a:pPr>
            <a:r>
              <a:t>Shared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886200"/>
            <a:ext cx="3072384" cy="65836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67587"/>
                </a:solidFill>
                <a:latin typeface="Aptos"/>
              </a:defRPr>
            </a:pPr>
            <a:r>
              <a:t>Tenant-level logical isolation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148840"/>
            <a:ext cx="3520440" cy="2770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80560" y="2148840"/>
            <a:ext cx="3520440" cy="621792"/>
          </a:xfrm>
          <a:prstGeom prst="roundRect">
            <a:avLst>
              <a:gd name="adj" fmla="val 12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1728" y="2331720"/>
            <a:ext cx="2926080" cy="237744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TIER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3127248"/>
            <a:ext cx="3108960" cy="4937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0345D"/>
                </a:solidFill>
                <a:latin typeface="Aptos"/>
              </a:defRPr>
            </a:pPr>
            <a:r>
              <a:t>Dedicated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886200"/>
            <a:ext cx="3072384" cy="65836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67587"/>
                </a:solidFill>
                <a:latin typeface="Aptos"/>
              </a:defRPr>
            </a:pPr>
            <a:r>
              <a:t>Stronger bank data separation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4464" y="2148840"/>
            <a:ext cx="3520440" cy="2770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84464" y="2148840"/>
            <a:ext cx="3520440" cy="621792"/>
          </a:xfrm>
          <a:prstGeom prst="roundRect">
            <a:avLst>
              <a:gd name="adj" fmla="val 12000"/>
            </a:avLst>
          </a:prstGeom>
          <a:solidFill>
            <a:srgbClr val="103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85632" y="2331720"/>
            <a:ext cx="2926080" cy="237744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TIER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3127248"/>
            <a:ext cx="3108960" cy="49377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0345D"/>
                </a:solidFill>
                <a:latin typeface="Aptos"/>
              </a:defRPr>
            </a:pPr>
            <a:r>
              <a:t>Dedicated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6" y="3886200"/>
            <a:ext cx="3072384" cy="65836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67587"/>
                </a:solidFill>
                <a:latin typeface="Aptos"/>
              </a:defRPr>
            </a:pPr>
            <a:r>
              <a:t>Separate infrastructure / cluster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5431536"/>
            <a:ext cx="9875520" cy="594360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5596128"/>
            <a:ext cx="95097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1539C"/>
                </a:solidFill>
                <a:latin typeface="Aptos"/>
              </a:defRPr>
            </a:pPr>
            <a:r>
              <a:t>Recommended default: Tier 1, with a documented migration path to Tier 2 or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0345D"/>
                </a:solidFill>
                <a:latin typeface="Aptos"/>
              </a:defRPr>
            </a:pPr>
            <a:r>
              <a:t>Developer implementation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667587"/>
                </a:solidFill>
                <a:latin typeface="Aptos"/>
              </a:defRPr>
            </a:pPr>
            <a:r>
              <a:t>Non-negotiable design controls for the first release.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984248"/>
            <a:ext cx="547725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6384" y="2185416"/>
            <a:ext cx="82296" cy="621792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2130552"/>
            <a:ext cx="4800600" cy="30175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Tenant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23744"/>
            <a:ext cx="4782312" cy="3383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250" b="0">
                <a:solidFill>
                  <a:srgbClr val="253242"/>
                </a:solidFill>
                <a:latin typeface="Aptos"/>
              </a:defRPr>
            </a:pPr>
            <a:r>
              <a:t>tenant_id scoped server-side; test cross-bank access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84248"/>
            <a:ext cx="547725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47104" y="2185416"/>
            <a:ext cx="82296" cy="621792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2130552"/>
            <a:ext cx="4800600" cy="30175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Versioning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523744"/>
            <a:ext cx="4782312" cy="3383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250" b="0">
                <a:solidFill>
                  <a:srgbClr val="253242"/>
                </a:solidFill>
                <a:latin typeface="Aptos"/>
              </a:defRPr>
            </a:pPr>
            <a:r>
              <a:t>Immutable published quiz, policy and scoring versions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55263"/>
            <a:ext cx="547725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6384" y="3456432"/>
            <a:ext cx="82296" cy="621792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401568"/>
            <a:ext cx="4800600" cy="30175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794759"/>
            <a:ext cx="4782312" cy="3383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250" b="0">
                <a:solidFill>
                  <a:srgbClr val="253242"/>
                </a:solidFill>
                <a:latin typeface="Aptos"/>
              </a:defRPr>
            </a:pPr>
            <a:r>
              <a:t>Who changed what, when and for which bank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255263"/>
            <a:ext cx="547725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47104" y="3456432"/>
            <a:ext cx="82296" cy="621792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3401568"/>
            <a:ext cx="4800600" cy="30175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Permissions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794759"/>
            <a:ext cx="4782312" cy="3383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250" b="0">
                <a:solidFill>
                  <a:srgbClr val="253242"/>
                </a:solidFill>
                <a:latin typeface="Aptos"/>
              </a:defRPr>
            </a:pPr>
            <a:r>
              <a:t>Central, bank, team and user-level authorization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526279"/>
            <a:ext cx="547725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86384" y="4727447"/>
            <a:ext cx="82296" cy="621792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672583"/>
            <a:ext cx="4800600" cy="30175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Data protection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065775"/>
            <a:ext cx="4782312" cy="3383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250" b="0">
                <a:solidFill>
                  <a:srgbClr val="253242"/>
                </a:solidFill>
                <a:latin typeface="Aptos"/>
              </a:defRPr>
            </a:pPr>
            <a:r>
              <a:t>Encryption, backups, retention and deletion controls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526279"/>
            <a:ext cx="5477256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47104" y="4727447"/>
            <a:ext cx="82296" cy="621792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0" y="4672583"/>
            <a:ext cx="4800600" cy="30175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345D"/>
                </a:solidFill>
                <a:latin typeface="Aptos"/>
              </a:defRPr>
            </a:pPr>
            <a:r>
              <a:t>Lifecycle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065775"/>
            <a:ext cx="4782312" cy="3383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250" b="0">
                <a:solidFill>
                  <a:srgbClr val="253242"/>
                </a:solidFill>
                <a:latin typeface="Aptos"/>
              </a:defRPr>
            </a:pPr>
            <a:r>
              <a:t>Provision, suspend, export and migrate tenants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420624" cy="32004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" y="182880"/>
            <a:ext cx="448056" cy="402336"/>
          </a:xfrm>
          <a:prstGeom prst="roundRect">
            <a:avLst>
              <a:gd name="adj" fmla="val 20000"/>
            </a:avLst>
          </a:prstGeom>
          <a:solidFill>
            <a:srgbClr val="21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8056" y="237744"/>
            <a:ext cx="365760" cy="21945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1168"/>
            <a:ext cx="2194560" cy="31089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1539C"/>
                </a:solidFill>
                <a:latin typeface="Aptos"/>
              </a:defRPr>
            </a:pPr>
            <a:r>
              <a:t>NegoMaster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4632"/>
            <a:ext cx="2286000" cy="15544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Financial Negotiation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758952"/>
            <a:ext cx="1143000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978408"/>
            <a:ext cx="11064240" cy="566928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r>
              <a:rPr sz="2500" b="1">
                <a:solidFill>
                  <a:srgbClr val="113356"/>
                </a:solidFill>
                <a:latin typeface="Aptos"/>
              </a:rPr>
              <a:t>Architecture decisions — recommended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581912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r>
              <a:rPr sz="1200" b="0">
                <a:solidFill>
                  <a:srgbClr val="485867"/>
                </a:solidFill>
                <a:latin typeface="Aptos"/>
              </a:rPr>
              <a:t>Three implementation decisions for the NegoMaster multi-bank platform.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6510528"/>
            <a:ext cx="11109960" cy="13716"/>
          </a:xfrm>
          <a:prstGeom prst="rect">
            <a:avLst/>
          </a:prstGeom>
          <a:solidFill>
            <a:srgbClr val="DC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83680"/>
            <a:ext cx="9144000" cy="16459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67587"/>
                </a:solidFill>
                <a:latin typeface="Aptos"/>
              </a:defRPr>
            </a:pPr>
            <a:r>
              <a:t>NEGOMASTER  /  MULTI-BANK ARCHITECTURE  / 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565392"/>
            <a:ext cx="36576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6675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2084831"/>
            <a:ext cx="10716768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0976" y="2377439"/>
            <a:ext cx="521207" cy="38404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4" y="2446020"/>
            <a:ext cx="393191" cy="22860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21539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231136"/>
            <a:ext cx="3200400" cy="35661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r>
              <a:rPr sz="1500" b="1">
                <a:solidFill>
                  <a:srgbClr val="113356"/>
                </a:solidFill>
                <a:latin typeface="Aptos"/>
              </a:rPr>
              <a:t>Content autonomy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231136"/>
            <a:ext cx="5806440" cy="6675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r>
              <a:rPr sz="1200" b="0">
                <a:solidFill>
                  <a:srgbClr val="485867"/>
                </a:solidFill>
                <a:latin typeface="Aptos"/>
              </a:rPr>
              <a:t>Banks can create local quizzes and variants; NegoMaster standards remain immutable.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3346703"/>
            <a:ext cx="10716768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50976" y="3639311"/>
            <a:ext cx="521207" cy="38404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" y="3707891"/>
            <a:ext cx="393191" cy="22860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21539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493008"/>
            <a:ext cx="3200400" cy="35661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r>
              <a:rPr sz="1500" b="1">
                <a:solidFill>
                  <a:srgbClr val="113356"/>
                </a:solidFill>
                <a:latin typeface="Aptos"/>
              </a:rPr>
              <a:t>Results confidentiality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493008"/>
            <a:ext cx="5806440" cy="6675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r>
              <a:rPr sz="1200" b="0">
                <a:solidFill>
                  <a:srgbClr val="485867"/>
                </a:solidFill>
                <a:latin typeface="Aptos"/>
              </a:rPr>
              <a:t>Individual results stay bank-private; NegoMaster receives approved anonymized analytics.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608575"/>
            <a:ext cx="10716768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50976" y="4901183"/>
            <a:ext cx="521207" cy="38404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4984" y="4969764"/>
            <a:ext cx="393191" cy="22860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21539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754879"/>
            <a:ext cx="3200400" cy="356616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r>
              <a:rPr sz="1500" b="1">
                <a:solidFill>
                  <a:srgbClr val="113356"/>
                </a:solidFill>
                <a:latin typeface="Aptos"/>
              </a:rPr>
              <a:t>Deployment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754879"/>
            <a:ext cx="5806440" cy="667512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r>
              <a:rPr sz="1200" b="0">
                <a:solidFill>
                  <a:srgbClr val="485867"/>
                </a:solidFill>
                <a:latin typeface="Aptos"/>
              </a:rPr>
              <a:t>Shared multi-tenant core, with an upgrade path to dedicated databases or clusters.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6062472"/>
            <a:ext cx="10241280" cy="292608"/>
          </a:xfrm>
          <a:prstGeom prst="roundRect">
            <a:avLst>
              <a:gd name="adj" fmla="val 12000"/>
            </a:avLst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609904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9144">
            <a:spAutoFit/>
          </a:bodyPr>
          <a:lstStyle/>
          <a:p>
            <a:r>
              <a:rPr sz="1000" b="1">
                <a:solidFill>
                  <a:srgbClr val="485867"/>
                </a:solidFill>
                <a:latin typeface="Aptos"/>
              </a:rPr>
              <a:t>GOVERNANCE: DEFINE OWNERSHIP, USAGE, EXPORT AND DELETION RIGHTS IN CONTRACTS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Fabrice Guélat</cp:lastModifiedBy>
  <cp:revision>3</cp:revision>
  <dcterms:created xsi:type="dcterms:W3CDTF">2013-01-27T09:14:16Z</dcterms:created>
  <dcterms:modified xsi:type="dcterms:W3CDTF">2026-10-27T06:52:20Z</dcterms:modified>
  <cp:category/>
</cp:coreProperties>
</file>